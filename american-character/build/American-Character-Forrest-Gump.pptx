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开场（由主管理人开场，或本页负责人）：</a:t>
            </a:r>
          </a:p>
          <a:p>
            <a:r>
              <a:t>1) 先问观众问题、把他们的生活拉进来：这四个人有什么共同点？（先别给答案）</a:t>
            </a:r>
          </a:p>
          <a:p>
            <a:r>
              <a:t>2) 再问一句俏皮的：如果这些性格长在你自己身上、或者发生在中国，会怎样？会改变你的选择吗？</a:t>
            </a:r>
          </a:p>
          <a:p>
            <a:r>
              <a:t>3) 点题：American character 不是阿甘一个人的性格，是这四个人的集合——这是本场的主张。</a:t>
            </a:r>
          </a:p>
          <a:p>
            <a:r>
              <a:t>口播：Before we talk about America, let's talk about you. Would these traits survive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阿甘（Baby 1）：</a:t>
            </a:r>
          </a:p>
          <a:p>
            <a:r>
              <a:t>主张：他从不算计，也从不回头——不是聪明，是一种不含算计的坚持。</a:t>
            </a:r>
          </a:p>
          <a:p>
            <a:r>
              <a:t>左图：越南战场上他把 Bubba 背出来，他自己受了伤也没把朋友丢下。</a:t>
            </a:r>
          </a:p>
          <a:p>
            <a:r>
              <a:t>右图：没有人追他，他跑了三年多，身后跟了一群人。</a:t>
            </a:r>
          </a:p>
          <a:p>
            <a:r>
              <a:t>点给观众：美国的乐观与坚持，落在具体行为上就是'先做，再想'。</a:t>
            </a:r>
          </a:p>
          <a:p>
            <a:r>
              <a:t>口播：He is not smart. He is unstoppable - and that is a choice, not a talent.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珍妮（Baby 2）：</a:t>
            </a:r>
          </a:p>
          <a:p>
            <a:r>
              <a:t>主张：她代表美国性格里的另一面——个人自由，以及自由的代价。</a:t>
            </a:r>
          </a:p>
          <a:p>
            <a:r>
              <a:t>左图：她第一个喊出 Run, Forrest, Run!——她自己一辈子也在跑，离开家、离开小镇。</a:t>
            </a:r>
          </a:p>
          <a:p>
            <a:r>
              <a:t>右图：她最后还是回来了。</a:t>
            </a:r>
          </a:p>
          <a:p>
            <a:r>
              <a:t>点给观众：自由不是免费的，她付了钱；这一点让'美国性格'不再只是好话。</a:t>
            </a:r>
          </a:p>
          <a:p>
            <a:r>
              <a:t>口播：She wanted to be free more than she wanted to be safe. That costs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阿甘妈妈（Baby 3）：</a:t>
            </a:r>
          </a:p>
          <a:p>
            <a:r>
              <a:t>主张：她给了他一生最有用的一句话——你和别人没有不同。</a:t>
            </a:r>
          </a:p>
          <a:p>
            <a:r>
              <a:t>左图：她坚持把戴腿支架的他送进普通学校，不让他待在角落。</a:t>
            </a:r>
          </a:p>
          <a:p>
            <a:r>
              <a:t>右图：临终她还在跟他讲道理（Death is part of life）。</a:t>
            </a:r>
          </a:p>
          <a:p>
            <a:r>
              <a:t>点给观众：美国性格里的平等信念，是从家庭里这样一句话开始的。</a:t>
            </a:r>
          </a:p>
          <a:p>
            <a:r>
              <a:t>口播：She never asked him to become someone else. That is where his confidence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丹中尉（Baby 4）：</a:t>
            </a:r>
          </a:p>
          <a:p>
            <a:r>
              <a:t>主张：他把人生写成一张计划表，计划失败了，他先是恨，最后选择活。</a:t>
            </a:r>
          </a:p>
          <a:p>
            <a:r>
              <a:t>左图：他相信自己的命运是像祖辈一样战死，被救下来＝耻辱。</a:t>
            </a:r>
          </a:p>
          <a:p>
            <a:r>
              <a:t>右图：风暴那一夜他对着天吼，活下来了，之后对阿甘说了谢谢。</a:t>
            </a:r>
          </a:p>
          <a:p>
            <a:r>
              <a:t>点给观众：美国性格里还有一种勇气——承认计划失败之后，重新开始。</a:t>
            </a:r>
          </a:p>
          <a:p>
            <a:r>
              <a:t>口播：He wanted to die a hero. He ended up alive, thanking the man he blamed.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收束（建议主管理人来讲）：</a:t>
            </a:r>
          </a:p>
          <a:p>
            <a:r>
              <a:t>回到开场的问题：四个人有什么共同点？答案是——他们合起来才构成 American character。</a:t>
            </a:r>
          </a:p>
          <a:p>
            <a:r>
              <a:t>四个人各代表一面：坚持（阿甘）、自由（珍妮）、平等（妈妈）、重新开始（丹中尉）。</a:t>
            </a:r>
          </a:p>
          <a:p>
            <a:r>
              <a:t>带走的一句话：判断一个国家的性格，看它的人怎么对待失败和离别。</a:t>
            </a:r>
          </a:p>
          <a:p>
            <a:r>
              <a:t>口播：American character is not one man's story. It is four of them, living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estion"/>
          <p:cNvSpPr txBox="1"/>
          <p:nvPr/>
        </p:nvSpPr>
        <p:spPr>
          <a:xfrm>
            <a:off x="822960" y="91440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WHAT DO THEY ALL</a:t>
            </a:r>
          </a:p>
          <a:p>
            <a:pPr algn="l">
              <a:lnSpc>
                <a:spcPct val="98000"/>
              </a:lnSpc>
            </a:pPr>
            <a:r>
              <a:rPr sz="6000" b="1">
                <a:solidFill>
                  <a:srgbClr val="FFFFFF"/>
                </a:solidFill>
                <a:latin typeface="Arial"/>
              </a:rPr>
              <a:t>HAVE IN COMMON?</a:t>
            </a:r>
          </a:p>
        </p:txBody>
      </p:sp>
      <p:sp>
        <p:nvSpPr>
          <p:cNvPr id="3" name="china"/>
          <p:cNvSpPr txBox="1"/>
          <p:nvPr/>
        </p:nvSpPr>
        <p:spPr>
          <a:xfrm>
            <a:off x="822960" y="32004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C53D"/>
                </a:solidFill>
                <a:latin typeface="Arial"/>
              </a:rPr>
              <a:t>And would it work in China?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rcRect l="4000" r="4000" t="12826" b="17239"/>
          <a:stretch>
            <a:fillRect/>
          </a:stretch>
        </p:blipFill>
        <p:spPr>
          <a:xfrm>
            <a:off x="822960" y="4224528"/>
            <a:ext cx="2523744" cy="1572768"/>
          </a:xfrm>
          <a:prstGeom prst="rect">
            <a:avLst/>
          </a:prstGeom>
        </p:spPr>
      </p:pic>
      <p:sp>
        <p:nvSpPr>
          <p:cNvPr id="5" name="who0"/>
          <p:cNvSpPr txBox="1"/>
          <p:nvPr/>
        </p:nvSpPr>
        <p:spPr>
          <a:xfrm>
            <a:off x="822960" y="5943600"/>
            <a:ext cx="2523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60">
                <a:solidFill>
                  <a:srgbClr val="FFFFFF"/>
                </a:solidFill>
                <a:latin typeface="Arial"/>
              </a:rPr>
              <a:t>FORREST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3"/>
          <a:srcRect l="4000" r="4000" t="12822" b="17233"/>
          <a:stretch>
            <a:fillRect/>
          </a:stretch>
        </p:blipFill>
        <p:spPr>
          <a:xfrm>
            <a:off x="3575303" y="4224528"/>
            <a:ext cx="2523744" cy="1572768"/>
          </a:xfrm>
          <a:prstGeom prst="rect">
            <a:avLst/>
          </a:prstGeom>
        </p:spPr>
      </p:pic>
      <p:sp>
        <p:nvSpPr>
          <p:cNvPr id="7" name="who1"/>
          <p:cNvSpPr txBox="1"/>
          <p:nvPr/>
        </p:nvSpPr>
        <p:spPr>
          <a:xfrm>
            <a:off x="3575303" y="5943600"/>
            <a:ext cx="2523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60">
                <a:solidFill>
                  <a:srgbClr val="FFFFFF"/>
                </a:solidFill>
                <a:latin typeface="Arial"/>
              </a:rPr>
              <a:t>JENNY</a:t>
            </a:r>
          </a:p>
        </p:txBody>
      </p:sp>
      <p:pic>
        <p:nvPicPr>
          <p:cNvPr id="8" name="Picture 7" descr="image12.png"/>
          <p:cNvPicPr>
            <a:picLocks noChangeAspect="1"/>
          </p:cNvPicPr>
          <p:nvPr/>
        </p:nvPicPr>
        <p:blipFill>
          <a:blip r:embed="rId4"/>
          <a:srcRect l="18744" r="18744" t="4000" b="4000"/>
          <a:stretch>
            <a:fillRect/>
          </a:stretch>
        </p:blipFill>
        <p:spPr>
          <a:xfrm>
            <a:off x="6327648" y="4224528"/>
            <a:ext cx="2523744" cy="1572768"/>
          </a:xfrm>
          <a:prstGeom prst="rect">
            <a:avLst/>
          </a:prstGeom>
        </p:spPr>
      </p:pic>
      <p:sp>
        <p:nvSpPr>
          <p:cNvPr id="9" name="who2"/>
          <p:cNvSpPr txBox="1"/>
          <p:nvPr/>
        </p:nvSpPr>
        <p:spPr>
          <a:xfrm>
            <a:off x="6327648" y="5943600"/>
            <a:ext cx="2523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60">
                <a:solidFill>
                  <a:srgbClr val="FFFFFF"/>
                </a:solidFill>
                <a:latin typeface="Arial"/>
              </a:rPr>
              <a:t>HIS MOTHER</a:t>
            </a:r>
          </a:p>
        </p:txBody>
      </p:sp>
      <p:pic>
        <p:nvPicPr>
          <p:cNvPr id="10" name="Picture 9" descr="image18.png"/>
          <p:cNvPicPr>
            <a:picLocks noChangeAspect="1"/>
          </p:cNvPicPr>
          <p:nvPr/>
        </p:nvPicPr>
        <p:blipFill>
          <a:blip r:embed="rId5"/>
          <a:srcRect l="8493" r="8493" t="4000" b="4000"/>
          <a:stretch>
            <a:fillRect/>
          </a:stretch>
        </p:blipFill>
        <p:spPr>
          <a:xfrm>
            <a:off x="9079992" y="4224528"/>
            <a:ext cx="2523744" cy="1572768"/>
          </a:xfrm>
          <a:prstGeom prst="rect">
            <a:avLst/>
          </a:prstGeom>
        </p:spPr>
      </p:pic>
      <p:sp>
        <p:nvSpPr>
          <p:cNvPr id="11" name="who3"/>
          <p:cNvSpPr txBox="1"/>
          <p:nvPr/>
        </p:nvSpPr>
        <p:spPr>
          <a:xfrm>
            <a:off x="9079992" y="5943600"/>
            <a:ext cx="2523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60">
                <a:solidFill>
                  <a:srgbClr val="FFFFFF"/>
                </a:solidFill>
                <a:latin typeface="Arial"/>
              </a:rPr>
              <a:t>LIEUTENANT DAN</a:t>
            </a:r>
          </a:p>
        </p:txBody>
      </p:sp>
      <p:sp>
        <p:nvSpPr>
          <p:cNvPr id="12" name="credit"/>
          <p:cNvSpPr txBox="1"/>
          <p:nvPr/>
        </p:nvSpPr>
        <p:spPr>
          <a:xfrm>
            <a:off x="7498079" y="651052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8AFB8"/>
                </a:solidFill>
                <a:latin typeface="Arial"/>
              </a:rPr>
              <a:t>Stills: Forrest Gump (1994), Paramount Pictures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4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4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4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4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" dur="4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45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822960" y="5486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60">
                <a:solidFill>
                  <a:srgbClr val="FFC53D"/>
                </a:solidFill>
                <a:latin typeface="Arial"/>
              </a:rPr>
              <a:t>01  FORREST</a:t>
            </a:r>
          </a:p>
        </p:txBody>
      </p:sp>
      <p:sp>
        <p:nvSpPr>
          <p:cNvPr id="3" name="claim"/>
          <p:cNvSpPr txBox="1"/>
          <p:nvPr/>
        </p:nvSpPr>
        <p:spPr>
          <a:xfrm>
            <a:off x="822960" y="1024128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>
                <a:solidFill>
                  <a:srgbClr val="FFFFFF"/>
                </a:solidFill>
                <a:latin typeface="Arial"/>
              </a:rPr>
              <a:t>HE NEVER STOPPED.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rcRect l="3000" r="3000" t="15472" b="20223"/>
          <a:stretch>
            <a:fillRect/>
          </a:stretch>
        </p:blipFill>
        <p:spPr>
          <a:xfrm>
            <a:off x="822960" y="2971800"/>
            <a:ext cx="4892040" cy="2743200"/>
          </a:xfrm>
          <a:prstGeom prst="rect">
            <a:avLst/>
          </a:prstGeom>
        </p:spPr>
      </p:pic>
      <p:sp>
        <p:nvSpPr>
          <p:cNvPr id="5" name="label_a"/>
          <p:cNvSpPr txBox="1"/>
          <p:nvPr/>
        </p:nvSpPr>
        <p:spPr>
          <a:xfrm>
            <a:off x="822960" y="58338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20">
                <a:solidFill>
                  <a:srgbClr val="FFC53D"/>
                </a:solidFill>
                <a:latin typeface="Arial"/>
              </a:rPr>
              <a:t>CARRIES OTHERS</a:t>
            </a:r>
          </a:p>
        </p:txBody>
      </p:sp>
      <p:sp>
        <p:nvSpPr>
          <p:cNvPr id="6" name="arrow"/>
          <p:cNvSpPr txBox="1"/>
          <p:nvPr/>
        </p:nvSpPr>
        <p:spPr>
          <a:xfrm>
            <a:off x="5715000" y="3931920"/>
            <a:ext cx="777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C53D"/>
                </a:solidFill>
                <a:latin typeface="Arial"/>
              </a:rPr>
              <a:t>→</a:t>
            </a:r>
          </a:p>
        </p:txBody>
      </p:sp>
      <p:pic>
        <p:nvPicPr>
          <p:cNvPr id="7" name="Picture 6" descr="image21.png"/>
          <p:cNvPicPr>
            <a:picLocks noChangeAspect="1"/>
          </p:cNvPicPr>
          <p:nvPr/>
        </p:nvPicPr>
        <p:blipFill>
          <a:blip r:embed="rId3"/>
          <a:srcRect l="6213" r="6213" t="3000" b="3000"/>
          <a:stretch>
            <a:fillRect/>
          </a:stretch>
        </p:blipFill>
        <p:spPr>
          <a:xfrm>
            <a:off x="6492240" y="2971800"/>
            <a:ext cx="4892040" cy="2743200"/>
          </a:xfrm>
          <a:prstGeom prst="rect">
            <a:avLst/>
          </a:prstGeom>
        </p:spPr>
      </p:pic>
      <p:sp>
        <p:nvSpPr>
          <p:cNvPr id="8" name="label_b"/>
          <p:cNvSpPr txBox="1"/>
          <p:nvPr/>
        </p:nvSpPr>
        <p:spPr>
          <a:xfrm>
            <a:off x="6492240" y="58338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20">
                <a:solidFill>
                  <a:srgbClr val="FFC53D"/>
                </a:solidFill>
                <a:latin typeface="Arial"/>
              </a:rPr>
              <a:t>KEEPS RUNNING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498079" y="651052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8AFB8"/>
                </a:solidFill>
                <a:latin typeface="Arial"/>
              </a:rPr>
              <a:t>Stills: Forrest Gump (1994), Paramount Pictures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4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4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822960" y="5486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60">
                <a:solidFill>
                  <a:srgbClr val="FFC53D"/>
                </a:solidFill>
                <a:latin typeface="Arial"/>
              </a:rPr>
              <a:t>02  JENNY</a:t>
            </a:r>
          </a:p>
        </p:txBody>
      </p:sp>
      <p:sp>
        <p:nvSpPr>
          <p:cNvPr id="3" name="claim"/>
          <p:cNvSpPr txBox="1"/>
          <p:nvPr/>
        </p:nvSpPr>
        <p:spPr>
          <a:xfrm>
            <a:off x="822960" y="1024128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>
                <a:solidFill>
                  <a:srgbClr val="FFFFFF"/>
                </a:solidFill>
                <a:latin typeface="Arial"/>
              </a:rPr>
              <a:t>SHE CHOSE FREEDOM.</a:t>
            </a:r>
          </a:p>
        </p:txBody>
      </p:sp>
      <p:pic>
        <p:nvPicPr>
          <p:cNvPr id="4" name="Picture 3" descr="image19.png"/>
          <p:cNvPicPr>
            <a:picLocks noChangeAspect="1"/>
          </p:cNvPicPr>
          <p:nvPr/>
        </p:nvPicPr>
        <p:blipFill>
          <a:blip r:embed="rId2"/>
          <a:srcRect l="3000" r="3000" t="25838" b="34539"/>
          <a:stretch>
            <a:fillRect/>
          </a:stretch>
        </p:blipFill>
        <p:spPr>
          <a:xfrm>
            <a:off x="822960" y="2971800"/>
            <a:ext cx="4892040" cy="2743200"/>
          </a:xfrm>
          <a:prstGeom prst="rect">
            <a:avLst/>
          </a:prstGeom>
        </p:spPr>
      </p:pic>
      <p:sp>
        <p:nvSpPr>
          <p:cNvPr id="5" name="label_a"/>
          <p:cNvSpPr txBox="1"/>
          <p:nvPr/>
        </p:nvSpPr>
        <p:spPr>
          <a:xfrm>
            <a:off x="822960" y="58338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20">
                <a:solidFill>
                  <a:srgbClr val="FFC53D"/>
                </a:solidFill>
                <a:latin typeface="Arial"/>
              </a:rPr>
              <a:t>RUNS AWAY</a:t>
            </a:r>
          </a:p>
        </p:txBody>
      </p:sp>
      <p:sp>
        <p:nvSpPr>
          <p:cNvPr id="6" name="arrow"/>
          <p:cNvSpPr txBox="1"/>
          <p:nvPr/>
        </p:nvSpPr>
        <p:spPr>
          <a:xfrm>
            <a:off x="5715000" y="3931920"/>
            <a:ext cx="777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C53D"/>
                </a:solidFill>
                <a:latin typeface="Arial"/>
              </a:rPr>
              <a:t>→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rcRect l="3000" r="3000" t="15472" b="20223"/>
          <a:stretch>
            <a:fillRect/>
          </a:stretch>
        </p:blipFill>
        <p:spPr>
          <a:xfrm>
            <a:off x="6492240" y="2971800"/>
            <a:ext cx="4892040" cy="2743200"/>
          </a:xfrm>
          <a:prstGeom prst="rect">
            <a:avLst/>
          </a:prstGeom>
        </p:spPr>
      </p:pic>
      <p:sp>
        <p:nvSpPr>
          <p:cNvPr id="8" name="label_b"/>
          <p:cNvSpPr txBox="1"/>
          <p:nvPr/>
        </p:nvSpPr>
        <p:spPr>
          <a:xfrm>
            <a:off x="6492240" y="58338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20">
                <a:solidFill>
                  <a:srgbClr val="FFC53D"/>
                </a:solidFill>
                <a:latin typeface="Arial"/>
              </a:rPr>
              <a:t>COMES BACK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498079" y="651052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8AFB8"/>
                </a:solidFill>
                <a:latin typeface="Arial"/>
              </a:rPr>
              <a:t>Stills: Forrest Gump (1994), Paramount Pictures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4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4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822960" y="5486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60">
                <a:solidFill>
                  <a:srgbClr val="FFC53D"/>
                </a:solidFill>
                <a:latin typeface="Arial"/>
              </a:rPr>
              <a:t>03  HIS MOTHER</a:t>
            </a:r>
          </a:p>
        </p:txBody>
      </p:sp>
      <p:sp>
        <p:nvSpPr>
          <p:cNvPr id="3" name="claim"/>
          <p:cNvSpPr txBox="1"/>
          <p:nvPr/>
        </p:nvSpPr>
        <p:spPr>
          <a:xfrm>
            <a:off x="822960" y="1024128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>
                <a:solidFill>
                  <a:srgbClr val="FFFFFF"/>
                </a:solidFill>
                <a:latin typeface="Arial"/>
              </a:rPr>
              <a:t>SHE SAID: NO DIFFERENT.</a:t>
            </a:r>
          </a:p>
        </p:txBody>
      </p:sp>
      <p:pic>
        <p:nvPicPr>
          <p:cNvPr id="4" name="Picture 3" descr="image9.png"/>
          <p:cNvPicPr>
            <a:picLocks noChangeAspect="1"/>
          </p:cNvPicPr>
          <p:nvPr/>
        </p:nvPicPr>
        <p:blipFill>
          <a:blip r:embed="rId2"/>
          <a:srcRect l="14727" r="14727" t="3000" b="3000"/>
          <a:stretch>
            <a:fillRect/>
          </a:stretch>
        </p:blipFill>
        <p:spPr>
          <a:xfrm>
            <a:off x="822960" y="2971800"/>
            <a:ext cx="4892040" cy="2743200"/>
          </a:xfrm>
          <a:prstGeom prst="rect">
            <a:avLst/>
          </a:prstGeom>
        </p:spPr>
      </p:pic>
      <p:sp>
        <p:nvSpPr>
          <p:cNvPr id="5" name="label_a"/>
          <p:cNvSpPr txBox="1"/>
          <p:nvPr/>
        </p:nvSpPr>
        <p:spPr>
          <a:xfrm>
            <a:off x="822960" y="58338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20">
                <a:solidFill>
                  <a:srgbClr val="FFC53D"/>
                </a:solidFill>
                <a:latin typeface="Arial"/>
              </a:rPr>
              <a:t>SENDS HIM OUT</a:t>
            </a:r>
          </a:p>
        </p:txBody>
      </p:sp>
      <p:sp>
        <p:nvSpPr>
          <p:cNvPr id="6" name="arrow"/>
          <p:cNvSpPr txBox="1"/>
          <p:nvPr/>
        </p:nvSpPr>
        <p:spPr>
          <a:xfrm>
            <a:off x="5715000" y="3931920"/>
            <a:ext cx="777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C53D"/>
                </a:solidFill>
                <a:latin typeface="Arial"/>
              </a:rPr>
              <a:t>→</a:t>
            </a:r>
          </a:p>
        </p:txBody>
      </p:sp>
      <p:pic>
        <p:nvPicPr>
          <p:cNvPr id="7" name="Picture 6" descr="image12.png"/>
          <p:cNvPicPr>
            <a:picLocks noChangeAspect="1"/>
          </p:cNvPicPr>
          <p:nvPr/>
        </p:nvPicPr>
        <p:blipFill>
          <a:blip r:embed="rId3"/>
          <a:srcRect l="14509" r="14509" t="3000" b="3000"/>
          <a:stretch>
            <a:fillRect/>
          </a:stretch>
        </p:blipFill>
        <p:spPr>
          <a:xfrm>
            <a:off x="6492240" y="2971800"/>
            <a:ext cx="4892040" cy="2743200"/>
          </a:xfrm>
          <a:prstGeom prst="rect">
            <a:avLst/>
          </a:prstGeom>
        </p:spPr>
      </p:pic>
      <p:sp>
        <p:nvSpPr>
          <p:cNvPr id="8" name="label_b"/>
          <p:cNvSpPr txBox="1"/>
          <p:nvPr/>
        </p:nvSpPr>
        <p:spPr>
          <a:xfrm>
            <a:off x="6492240" y="58338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20">
                <a:solidFill>
                  <a:srgbClr val="FFC53D"/>
                </a:solidFill>
                <a:latin typeface="Arial"/>
              </a:rPr>
              <a:t>STAYS TO THE END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498079" y="651052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8AFB8"/>
                </a:solidFill>
                <a:latin typeface="Arial"/>
              </a:rPr>
              <a:t>Stills: Forrest Gump (1994), Paramount Pictures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4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4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822960" y="5486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60">
                <a:solidFill>
                  <a:srgbClr val="FFC53D"/>
                </a:solidFill>
                <a:latin typeface="Arial"/>
              </a:rPr>
              <a:t>04  LIEUTENANT DAN</a:t>
            </a:r>
          </a:p>
        </p:txBody>
      </p:sp>
      <p:sp>
        <p:nvSpPr>
          <p:cNvPr id="3" name="claim"/>
          <p:cNvSpPr txBox="1"/>
          <p:nvPr/>
        </p:nvSpPr>
        <p:spPr>
          <a:xfrm>
            <a:off x="822960" y="1024128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>
                <a:solidFill>
                  <a:srgbClr val="FFFFFF"/>
                </a:solidFill>
                <a:latin typeface="Arial"/>
              </a:rPr>
              <a:t>HIS PLAN DIED. HE LIVED.</a:t>
            </a:r>
          </a:p>
        </p:txBody>
      </p:sp>
      <p:pic>
        <p:nvPicPr>
          <p:cNvPr id="4" name="Picture 3" descr="image7.png"/>
          <p:cNvPicPr>
            <a:picLocks noChangeAspect="1"/>
          </p:cNvPicPr>
          <p:nvPr/>
        </p:nvPicPr>
        <p:blipFill>
          <a:blip r:embed="rId2"/>
          <a:srcRect l="3000" r="3000" t="15483" b="20239"/>
          <a:stretch>
            <a:fillRect/>
          </a:stretch>
        </p:blipFill>
        <p:spPr>
          <a:xfrm>
            <a:off x="822960" y="2971800"/>
            <a:ext cx="4892040" cy="2743200"/>
          </a:xfrm>
          <a:prstGeom prst="rect">
            <a:avLst/>
          </a:prstGeom>
        </p:spPr>
      </p:pic>
      <p:sp>
        <p:nvSpPr>
          <p:cNvPr id="5" name="label_a"/>
          <p:cNvSpPr txBox="1"/>
          <p:nvPr/>
        </p:nvSpPr>
        <p:spPr>
          <a:xfrm>
            <a:off x="822960" y="58338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20">
                <a:solidFill>
                  <a:srgbClr val="FFC53D"/>
                </a:solidFill>
                <a:latin typeface="Arial"/>
              </a:rPr>
              <a:t>WANTED TO DIE</a:t>
            </a:r>
          </a:p>
        </p:txBody>
      </p:sp>
      <p:sp>
        <p:nvSpPr>
          <p:cNvPr id="6" name="arrow"/>
          <p:cNvSpPr txBox="1"/>
          <p:nvPr/>
        </p:nvSpPr>
        <p:spPr>
          <a:xfrm>
            <a:off x="5715000" y="3931920"/>
            <a:ext cx="777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C53D"/>
                </a:solidFill>
                <a:latin typeface="Arial"/>
              </a:rPr>
              <a:t>→</a:t>
            </a:r>
          </a:p>
        </p:txBody>
      </p:sp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3"/>
          <a:srcRect l="3000" r="3000" t="3111" b="3153"/>
          <a:stretch>
            <a:fillRect/>
          </a:stretch>
        </p:blipFill>
        <p:spPr>
          <a:xfrm>
            <a:off x="6492240" y="2971800"/>
            <a:ext cx="4892040" cy="2743200"/>
          </a:xfrm>
          <a:prstGeom prst="rect">
            <a:avLst/>
          </a:prstGeom>
        </p:spPr>
      </p:pic>
      <p:sp>
        <p:nvSpPr>
          <p:cNvPr id="8" name="label_b"/>
          <p:cNvSpPr txBox="1"/>
          <p:nvPr/>
        </p:nvSpPr>
        <p:spPr>
          <a:xfrm>
            <a:off x="6492240" y="5833872"/>
            <a:ext cx="4892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20">
                <a:solidFill>
                  <a:srgbClr val="FFC53D"/>
                </a:solidFill>
                <a:latin typeface="Arial"/>
              </a:rPr>
              <a:t>CHOSE TO LIVE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498079" y="651052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8AFB8"/>
                </a:solidFill>
                <a:latin typeface="Arial"/>
              </a:rPr>
              <a:t>Stills: Forrest Gump (1994), Paramount Pictures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4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4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4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822960" y="5486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spc="160">
                <a:solidFill>
                  <a:srgbClr val="FFC53D"/>
                </a:solidFill>
                <a:latin typeface="Arial"/>
              </a:rPr>
              <a:t>THE POINT</a:t>
            </a:r>
          </a:p>
        </p:txBody>
      </p:sp>
      <p:sp>
        <p:nvSpPr>
          <p:cNvPr id="3" name="line1"/>
          <p:cNvSpPr txBox="1"/>
          <p:nvPr/>
        </p:nvSpPr>
        <p:spPr>
          <a:xfrm>
            <a:off x="822960" y="105156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Arial"/>
              </a:rPr>
              <a:t>NOT ONE HERO.</a:t>
            </a:r>
          </a:p>
        </p:txBody>
      </p:sp>
      <p:sp>
        <p:nvSpPr>
          <p:cNvPr id="4" name="line2"/>
          <p:cNvSpPr txBox="1"/>
          <p:nvPr/>
        </p:nvSpPr>
        <p:spPr>
          <a:xfrm>
            <a:off x="822960" y="22860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C53D"/>
                </a:solidFill>
                <a:latin typeface="Arial"/>
              </a:rPr>
              <a:t>ALL OF THEM.</a:t>
            </a:r>
          </a:p>
        </p:txBody>
      </p:sp>
      <p:sp>
        <p:nvSpPr>
          <p:cNvPr id="5" name="support"/>
          <p:cNvSpPr txBox="1"/>
          <p:nvPr/>
        </p:nvSpPr>
        <p:spPr>
          <a:xfrm>
            <a:off x="822960" y="37947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Arial"/>
              </a:rPr>
              <a:t>Together they make American character.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rcRect l="4000" r="4000" t="15174" b="19761"/>
          <a:stretch>
            <a:fillRect/>
          </a:stretch>
        </p:blipFill>
        <p:spPr>
          <a:xfrm>
            <a:off x="822960" y="4754880"/>
            <a:ext cx="2523744" cy="1463040"/>
          </a:xfrm>
          <a:prstGeom prst="rect">
            <a:avLst/>
          </a:prstGeom>
        </p:spPr>
      </p:pic>
      <p:pic>
        <p:nvPicPr>
          <p:cNvPr id="7" name="Picture 6" descr="image19.png"/>
          <p:cNvPicPr>
            <a:picLocks noChangeAspect="1"/>
          </p:cNvPicPr>
          <p:nvPr/>
        </p:nvPicPr>
        <p:blipFill>
          <a:blip r:embed="rId3"/>
          <a:srcRect l="4000" r="4000" t="25164" b="34745"/>
          <a:stretch>
            <a:fillRect/>
          </a:stretch>
        </p:blipFill>
        <p:spPr>
          <a:xfrm>
            <a:off x="3575303" y="4754880"/>
            <a:ext cx="2523744" cy="1463040"/>
          </a:xfrm>
          <a:prstGeom prst="rect">
            <a:avLst/>
          </a:prstGeom>
        </p:spPr>
      </p:pic>
      <p:pic>
        <p:nvPicPr>
          <p:cNvPr id="8" name="Picture 7" descr="image12.png"/>
          <p:cNvPicPr>
            <a:picLocks noChangeAspect="1"/>
          </p:cNvPicPr>
          <p:nvPr/>
        </p:nvPicPr>
        <p:blipFill>
          <a:blip r:embed="rId4"/>
          <a:srcRect l="17861" r="17861" t="6000" b="6000"/>
          <a:stretch>
            <a:fillRect/>
          </a:stretch>
        </p:blipFill>
        <p:spPr>
          <a:xfrm>
            <a:off x="6327648" y="4754880"/>
            <a:ext cx="2523744" cy="1463040"/>
          </a:xfrm>
          <a:prstGeom prst="rect">
            <a:avLst/>
          </a:prstGeom>
        </p:spPr>
      </p:pic>
      <p:pic>
        <p:nvPicPr>
          <p:cNvPr id="9" name="Picture 8" descr="image18.png"/>
          <p:cNvPicPr>
            <a:picLocks noChangeAspect="1"/>
          </p:cNvPicPr>
          <p:nvPr/>
        </p:nvPicPr>
        <p:blipFill>
          <a:blip r:embed="rId5"/>
          <a:srcRect l="7320" r="7320" t="6000" b="6000"/>
          <a:stretch>
            <a:fillRect/>
          </a:stretch>
        </p:blipFill>
        <p:spPr>
          <a:xfrm>
            <a:off x="9079992" y="4754880"/>
            <a:ext cx="2523744" cy="1463040"/>
          </a:xfrm>
          <a:prstGeom prst="rect">
            <a:avLst/>
          </a:prstGeom>
        </p:spPr>
      </p:pic>
      <p:sp>
        <p:nvSpPr>
          <p:cNvPr id="10" name="credit"/>
          <p:cNvSpPr txBox="1"/>
          <p:nvPr/>
        </p:nvSpPr>
        <p:spPr>
          <a:xfrm>
            <a:off x="7498079" y="6510528"/>
            <a:ext cx="37490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A8AFB8"/>
                </a:solidFill>
                <a:latin typeface="Arial"/>
              </a:rPr>
              <a:t>Stills: Forrest Gump (1994), Paramount Pictures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4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4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4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4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4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4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" dur="4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" dur="4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8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" dur="4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